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0"/>
            <a:ext cx="146304" cy="6858000"/>
          </a:xfrm>
          <a:prstGeom prst="rect">
            <a:avLst/>
          </a:prstGeom>
          <a:solidFill>
            <a:srgbClr val="0FB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6656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FB5AE"/>
                </a:solidFill>
                <a:latin typeface="Calibri"/>
              </a:rPr>
              <a:t>setup.com.br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Infraestrutura de TI com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9319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AFC6E0"/>
                </a:solidFill>
                <a:latin typeface="Calibri"/>
              </a:rPr>
              <a:t>Produtividade aumentada por agentes, multimodelo e harness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4572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8FA8C4"/>
                </a:solidFill>
                <a:latin typeface="Calibri"/>
              </a:rPr>
              <a:t>Integração: PC · Notebook · Tablet · Smartphone · WhatsApp · Google Workspace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E84A0"/>
                </a:solidFill>
                <a:latin typeface="Calibri"/>
              </a:rPr>
              <a:t>Documento Executivo   ·   v1.0   ·   Junho / 2026   ·   Uso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B5AE"/>
                </a:solidFill>
                <a:latin typeface="Calibri"/>
              </a:rPr>
              <a:t>SUMÁRIO EXECUTIVO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Uma IA, em cada tela — operando de verdade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B36"/>
                </a:solidFill>
                <a:latin typeface="Calibri"/>
              </a:rPr>
              <a:t>Cada profissional ganha um assistente único — no notebook, no celular, no tablet e pelo WhatsApp — que entende o contexto da empresa, atua sobre os sistemas internos (projetos, contratos, comercial) e executa tarefas de ponta a ponta, sempre sob controle humano nas decisões críticas.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2608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926080"/>
            <a:ext cx="36118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EB"/>
                </a:solidFill>
                <a:latin typeface="Calibri"/>
              </a:rPr>
              <a:t>MULTIMODELO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033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A IA certa para cada tarefa,
equilibrando custo e qualidade.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292608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2926080"/>
            <a:ext cx="3611880" cy="109728"/>
          </a:xfrm>
          <a:prstGeom prst="rect">
            <a:avLst/>
          </a:prstGeom>
          <a:solidFill>
            <a:srgbClr val="0FB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32004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B5AE"/>
                </a:solidFill>
                <a:latin typeface="Calibri"/>
              </a:rPr>
              <a:t>HARNESS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37033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Planeja → age → observa → corrige
até concluir o trabalho.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4464" y="292608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2926080"/>
            <a:ext cx="3611880" cy="1097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32004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5A623"/>
                </a:solidFill>
                <a:latin typeface="Calibri"/>
              </a:rPr>
              <a:t>CONECTORES 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37033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Liga a IA aos sistemas reais:
WhatsApp, Workspace, internos.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285232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740"/>
                </a:solidFill>
                <a:latin typeface="Calibri"/>
              </a:rPr>
              <a:t>Resultado esperado:  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menos tempo em tarefas repetitivas e mais qualidade nos entregáveis — e, no mesmo movimento, equipes menos sobrecarregadas, com mais segurança psicológica e melhores condições de trabalho.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2740"/>
                </a:solidFill>
                <a:latin typeface="Calibri"/>
              </a:rPr>
              <a:t>ARQUITETURA — VISÃO EM CAMADAS</a:t>
            </a:r>
          </a:p>
        </p:txBody>
      </p:sp>
      <p:pic>
        <p:nvPicPr>
          <p:cNvPr id="4" name="Picture 3" descr="01_cam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209" y="1051560"/>
            <a:ext cx="7666362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B5AE"/>
                </a:solidFill>
                <a:latin typeface="Calibri"/>
              </a:rPr>
              <a:t>EXPERIÊNCIA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Um assistente em cada tela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B36"/>
                </a:solidFill>
                <a:latin typeface="Calibri"/>
              </a:rPr>
              <a:t>O mesmo agente, com o mesmo contexto, em qualquer dispositivo. O profissional escolhe o canal mais conveniente.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2834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PC / 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377440"/>
            <a:ext cx="8046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Produção: documentos, planilhas, código, análise e operação do computador.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0FB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2834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090672"/>
            <a:ext cx="8046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Revisão, aprovação e leitura de resumos; ditado de tarefas em reunião.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03904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03904"/>
            <a:ext cx="2834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Smartphone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803904"/>
            <a:ext cx="8046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Captura rápida (foto de nota, áudio), consulta de agenda e aprovações.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17136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17136"/>
            <a:ext cx="2834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WhatsApp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517136"/>
            <a:ext cx="8046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Canal mais natural no Brasil: conversa por texto/áudio; clientes atendidos por agentes.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30368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230368"/>
            <a:ext cx="2834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Chat web / 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5230368"/>
            <a:ext cx="8046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Trabalho técnico e suporte: copiloto interno das equipes.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2740"/>
                </a:solidFill>
                <a:latin typeface="Calibri"/>
              </a:rPr>
              <a:t>MULTIMODELO — A IA CERTA PARA CADA TAREFA</a:t>
            </a:r>
          </a:p>
        </p:txBody>
      </p:sp>
      <p:pic>
        <p:nvPicPr>
          <p:cNvPr id="4" name="Picture 3" descr="03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922" y="914400"/>
            <a:ext cx="748893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53212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B6B7B"/>
                </a:solidFill>
                <a:latin typeface="Calibri"/>
              </a:rPr>
              <a:t>Modelos especializados complementam o texto: transcrição de áudio (WhatsApp/reuniões), visão/OCR (notas e contratos) e busca semântica sobre a base de conhecimento.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0FB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2740"/>
                </a:solidFill>
                <a:latin typeface="Calibri"/>
              </a:rPr>
              <a:t>HARNESS LOOP — DE CHATBOT A AGENTE QUE ENTREGA</a:t>
            </a:r>
          </a:p>
        </p:txBody>
      </p:sp>
      <p:pic>
        <p:nvPicPr>
          <p:cNvPr id="4" name="Picture 3" descr="02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852160" cy="38446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258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2740"/>
                </a:solidFill>
                <a:latin typeface="Calibri"/>
              </a:rPr>
              <a:t>Exemplo: fechar proposta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484632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0FB5AE"/>
                </a:solidFill>
                <a:latin typeface="Calibri"/>
              </a:rPr>
              <a:t>▸  </a:t>
            </a:r>
            <a:r>
              <a:rPr sz="1400" b="1">
                <a:solidFill>
                  <a:srgbClr val="0F2740"/>
                </a:solidFill>
                <a:latin typeface="Calibri"/>
              </a:rPr>
              <a:t>Planejar — </a:t>
            </a:r>
            <a:r>
              <a:rPr sz="1400">
                <a:solidFill>
                  <a:srgbClr val="212B36"/>
                </a:solidFill>
                <a:latin typeface="Calibri"/>
              </a:rPr>
              <a:t>o vendedor pede pelo WhatsApp.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0FB5AE"/>
                </a:solidFill>
                <a:latin typeface="Calibri"/>
              </a:rPr>
              <a:t>▸  </a:t>
            </a:r>
            <a:r>
              <a:rPr sz="1400" b="1">
                <a:solidFill>
                  <a:srgbClr val="0F2740"/>
                </a:solidFill>
                <a:latin typeface="Calibri"/>
              </a:rPr>
              <a:t>Agir/Observar — </a:t>
            </a:r>
            <a:r>
              <a:rPr sz="1400">
                <a:solidFill>
                  <a:srgbClr val="212B36"/>
                </a:solidFill>
                <a:latin typeface="Calibri"/>
              </a:rPr>
              <a:t>busca histórico no Drive e Gmail, gera a proposta, agenda no Calendar.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0FB5AE"/>
                </a:solidFill>
                <a:latin typeface="Calibri"/>
              </a:rPr>
              <a:t>▸  </a:t>
            </a:r>
            <a:r>
              <a:rPr sz="1400" b="1">
                <a:solidFill>
                  <a:srgbClr val="0F2740"/>
                </a:solidFill>
                <a:latin typeface="Calibri"/>
              </a:rPr>
              <a:t>Aprovar — </a:t>
            </a:r>
            <a:r>
              <a:rPr sz="1400">
                <a:solidFill>
                  <a:srgbClr val="212B36"/>
                </a:solidFill>
                <a:latin typeface="Calibri"/>
              </a:rPr>
              <a:t>envia o resumo ao vendedor; se houver ajuste, o loop reabre.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4572000"/>
            <a:ext cx="4846320" cy="1371600"/>
          </a:xfrm>
          <a:prstGeom prst="roundRect">
            <a:avLst>
              <a:gd name="adj" fmla="val 8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14032" y="4754880"/>
            <a:ext cx="43891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2740"/>
                </a:solidFill>
                <a:latin typeface="Calibri"/>
              </a:rPr>
              <a:t>Controle humano:  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ações de baixo risco são automáticas; envios e alterações irreversíveis exigem aprovação.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B5AE"/>
                </a:solidFill>
                <a:latin typeface="Calibri"/>
              </a:rPr>
              <a:t>AGENTES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Catálogo de agentes especializados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12B36"/>
                </a:solidFill>
                <a:latin typeface="Calibri"/>
              </a:rPr>
              <a:t>Cada agente tem escopo e permissões próprios, usa o harness loop e o roteamento multimodelo — e pode delegar a sub-agentes.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91440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91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6FEB"/>
                </a:solidFill>
                <a:latin typeface="Calibri"/>
              </a:rPr>
              <a:t>Assistente Executivo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E-mail, agenda, resumos, reuniões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224028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2240280"/>
            <a:ext cx="91440" cy="960120"/>
          </a:xfrm>
          <a:prstGeom prst="rect">
            <a:avLst/>
          </a:prstGeom>
          <a:solidFill>
            <a:srgbClr val="0FB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3591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FB5AE"/>
                </a:solidFill>
                <a:latin typeface="Calibri"/>
              </a:rPr>
              <a:t>Atendimento / SDR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7432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Clientes no WhatsApp, leads, demos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4464" y="224028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2240280"/>
            <a:ext cx="91440" cy="9601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23591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>PMO / Projetos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27432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Status, relatórios e riscos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56432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456432"/>
            <a:ext cx="91440" cy="9601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2E8B57"/>
                </a:solidFill>
                <a:latin typeface="Calibri"/>
              </a:rPr>
              <a:t>Contratos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9593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Minutas, prazos, OCR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6552" y="3456432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16552" y="3456432"/>
            <a:ext cx="91440" cy="960120"/>
          </a:xfrm>
          <a:prstGeom prst="rect">
            <a:avLst/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90872" y="357530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5B6B7B"/>
                </a:solidFill>
                <a:latin typeface="Calibri"/>
              </a:rPr>
              <a:t>Suporte / Helpdesk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0872" y="39593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Chamados, runbooks, máquinas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456432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84464" y="3456432"/>
            <a:ext cx="91440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58784" y="357530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6FEB"/>
                </a:solidFill>
                <a:latin typeface="Calibri"/>
              </a:rPr>
              <a:t>DevOps / Engenharia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58784" y="395935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PRs, CI, evolui sist. internos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672584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672584"/>
            <a:ext cx="91440" cy="960120"/>
          </a:xfrm>
          <a:prstGeom prst="rect">
            <a:avLst/>
          </a:prstGeom>
          <a:solidFill>
            <a:srgbClr val="0FB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9145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FB5AE"/>
                </a:solidFill>
                <a:latin typeface="Calibri"/>
              </a:rPr>
              <a:t>Financeiro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17550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Conciliação, despesas, relatórios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B5AE"/>
                </a:solidFill>
                <a:latin typeface="Calibri"/>
              </a:rPr>
              <a:t>SISTEMAS INTERNOS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Integrar e fortalecer o que já existe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B36"/>
                </a:solidFill>
                <a:latin typeface="Calibri"/>
              </a:rPr>
              <a:t>A setup.com.br já desenvolveu, em </a:t>
            </a:r>
            <a:r>
              <a:rPr sz="1500" b="1" i="0">
                <a:solidFill>
                  <a:srgbClr val="0F2740"/>
                </a:solidFill>
                <a:latin typeface="Calibri"/>
              </a:rPr>
              <a:t>vibe coding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, sistemas de projetos, contratos e comercial. A infraestrutura </a:t>
            </a:r>
            <a:r>
              <a:rPr sz="1500" b="1" i="0">
                <a:solidFill>
                  <a:srgbClr val="0F2740"/>
                </a:solidFill>
                <a:latin typeface="Calibri"/>
              </a:rPr>
              <a:t>não os substitui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— encapsula como conectores e os coloca no alcance dos agentes.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40680" cy="310896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6FEB"/>
                </a:solidFill>
                <a:latin typeface="Calibri"/>
              </a:rPr>
              <a:t>INTEGRAR  →  viram conectores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484632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1F6FEB"/>
                </a:solidFill>
                <a:latin typeface="Calibri"/>
              </a:rPr>
              <a:t>▸  </a:t>
            </a:r>
            <a:r>
              <a:rPr sz="1350" b="1">
                <a:solidFill>
                  <a:srgbClr val="0F2740"/>
                </a:solidFill>
                <a:latin typeface="Calibri"/>
              </a:rPr>
              <a:t>Projetos — </a:t>
            </a:r>
            <a:r>
              <a:rPr sz="1350">
                <a:solidFill>
                  <a:srgbClr val="212B36"/>
                </a:solidFill>
                <a:latin typeface="Calibri"/>
              </a:rPr>
              <a:t>PMO atualiza status, relatórios e riscos.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1F6FEB"/>
                </a:solidFill>
                <a:latin typeface="Calibri"/>
              </a:rPr>
              <a:t>▸  </a:t>
            </a:r>
            <a:r>
              <a:rPr sz="1350" b="1">
                <a:solidFill>
                  <a:srgbClr val="0F2740"/>
                </a:solidFill>
                <a:latin typeface="Calibri"/>
              </a:rPr>
              <a:t>Contratos — </a:t>
            </a:r>
            <a:r>
              <a:rPr sz="1350">
                <a:solidFill>
                  <a:srgbClr val="212B36"/>
                </a:solidFill>
                <a:latin typeface="Calibri"/>
              </a:rPr>
              <a:t>gera minutas, acompanha prazos, renova.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1F6FEB"/>
                </a:solidFill>
                <a:latin typeface="Calibri"/>
              </a:rPr>
              <a:t>▸  </a:t>
            </a:r>
            <a:r>
              <a:rPr sz="1350" b="1">
                <a:solidFill>
                  <a:srgbClr val="0F2740"/>
                </a:solidFill>
                <a:latin typeface="Calibri"/>
              </a:rPr>
              <a:t>Comercial — </a:t>
            </a:r>
            <a:r>
              <a:rPr sz="1350">
                <a:solidFill>
                  <a:srgbClr val="212B36"/>
                </a:solidFill>
                <a:latin typeface="Calibri"/>
              </a:rPr>
              <a:t>qualifica leads e move o funil.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651760"/>
            <a:ext cx="5440680" cy="3108960"/>
          </a:xfrm>
          <a:prstGeom prst="roundRect">
            <a:avLst>
              <a:gd name="adj" fmla="val 8000"/>
            </a:avLst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788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FB5AE"/>
                </a:solidFill>
                <a:latin typeface="Calibri"/>
              </a:rPr>
              <a:t>FORTALECER  →  saúde dos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329184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Sistemas em vibe coding entregam rápido, mas acumulam dívida técnica. O agente de DevOps adiciona testes, revisa alterações e documenta — reduzindo retrabalho e aumentando a confiabilidade.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F2740"/>
                </a:solidFill>
                <a:latin typeface="Calibri"/>
              </a:rPr>
              <a:t>O investimento já feito é preservado e ampliado, não descartado.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2740"/>
                </a:solidFill>
                <a:latin typeface="Calibri"/>
              </a:rPr>
              <a:t>PESSOAS NO CENTRO — CLIMA, SEGURANÇA PSICOLÓGICA E CONDIÇÕES DE TRABALHO</a:t>
            </a:r>
          </a:p>
        </p:txBody>
      </p:sp>
      <p:pic>
        <p:nvPicPr>
          <p:cNvPr id="4" name="Picture 3" descr="06_pesso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850" y="1005840"/>
            <a:ext cx="7659079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740"/>
                </a:solidFill>
                <a:latin typeface="Calibri"/>
              </a:rPr>
              <a:t>A IA aumenta as pessoas — não as vigia. 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Com rascunho revisável e aprovação humana, o custo de errar cai; equipes menos sobrecarregadas colaboram melhor e retêm talentos.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B5AE"/>
                </a:solidFill>
                <a:latin typeface="Calibri"/>
              </a:rPr>
              <a:t>GOVERNANÇA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Segurança e governança — não-negociável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F2740"/>
                </a:solidFill>
                <a:latin typeface="Calibri"/>
              </a:rPr>
              <a:t>▸  </a:t>
            </a:r>
            <a:r>
              <a:rPr sz="1550" b="1">
                <a:solidFill>
                  <a:srgbClr val="0F2740"/>
                </a:solidFill>
                <a:latin typeface="Calibri"/>
              </a:rPr>
              <a:t>Identidade única (SSO) — </a:t>
            </a:r>
            <a:r>
              <a:rPr sz="1550">
                <a:solidFill>
                  <a:srgbClr val="212B36"/>
                </a:solidFill>
                <a:latin typeface="Calibri"/>
              </a:rPr>
              <a:t>via Google Workspace; o agente age como o usuário, herdando só as permissões dele.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F2740"/>
                </a:solidFill>
                <a:latin typeface="Calibri"/>
              </a:rPr>
              <a:t>▸  </a:t>
            </a:r>
            <a:r>
              <a:rPr sz="1550" b="1">
                <a:solidFill>
                  <a:srgbClr val="0F2740"/>
                </a:solidFill>
                <a:latin typeface="Calibri"/>
              </a:rPr>
              <a:t>Permissões mínimas — </a:t>
            </a:r>
            <a:r>
              <a:rPr sz="1550">
                <a:solidFill>
                  <a:srgbClr val="212B36"/>
                </a:solidFill>
                <a:latin typeface="Calibri"/>
              </a:rPr>
              <a:t>cada conector recebe apenas os escopos necessários.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F2740"/>
                </a:solidFill>
                <a:latin typeface="Calibri"/>
              </a:rPr>
              <a:t>▸  </a:t>
            </a:r>
            <a:r>
              <a:rPr sz="1550" b="1">
                <a:solidFill>
                  <a:srgbClr val="0F2740"/>
                </a:solidFill>
                <a:latin typeface="Calibri"/>
              </a:rPr>
              <a:t>Aprovação de ações externas — </a:t>
            </a:r>
            <a:r>
              <a:rPr sz="1550">
                <a:solidFill>
                  <a:srgbClr val="212B36"/>
                </a:solidFill>
                <a:latin typeface="Calibri"/>
              </a:rPr>
              <a:t>envios, exclusões e alterações irreversíveis passam por confirmação humana.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F2740"/>
                </a:solidFill>
                <a:latin typeface="Calibri"/>
              </a:rPr>
              <a:t>▸  </a:t>
            </a:r>
            <a:r>
              <a:rPr sz="1550" b="1">
                <a:solidFill>
                  <a:srgbClr val="0F2740"/>
                </a:solidFill>
                <a:latin typeface="Calibri"/>
              </a:rPr>
              <a:t>Segredos protegidos — </a:t>
            </a:r>
            <a:r>
              <a:rPr sz="1550">
                <a:solidFill>
                  <a:srgbClr val="212B36"/>
                </a:solidFill>
                <a:latin typeface="Calibri"/>
              </a:rPr>
              <a:t>chaves e tokens em cofre (Vault / Secret Manager), nunca no código.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F2740"/>
                </a:solidFill>
                <a:latin typeface="Calibri"/>
              </a:rPr>
              <a:t>▸  </a:t>
            </a:r>
            <a:r>
              <a:rPr sz="1550" b="1">
                <a:solidFill>
                  <a:srgbClr val="0F2740"/>
                </a:solidFill>
                <a:latin typeface="Calibri"/>
              </a:rPr>
              <a:t>Auditoria completa — </a:t>
            </a:r>
            <a:r>
              <a:rPr sz="1550">
                <a:solidFill>
                  <a:srgbClr val="212B36"/>
                </a:solidFill>
                <a:latin typeface="Calibri"/>
              </a:rPr>
              <a:t>cada passo do loop é registrado para conformidade.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0F2740"/>
                </a:solidFill>
                <a:latin typeface="Calibri"/>
              </a:rPr>
              <a:t>▸  </a:t>
            </a:r>
            <a:r>
              <a:rPr sz="1550" b="1">
                <a:solidFill>
                  <a:srgbClr val="0F2740"/>
                </a:solidFill>
                <a:latin typeface="Calibri"/>
              </a:rPr>
              <a:t>Isolamento de dados — </a:t>
            </a:r>
            <a:r>
              <a:rPr sz="1550">
                <a:solidFill>
                  <a:srgbClr val="212B36"/>
                </a:solidFill>
                <a:latin typeface="Calibri"/>
              </a:rPr>
              <a:t>dados da empresa não treinam modelos públicos; ambientes com não retenção.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2740"/>
                </a:solidFill>
                <a:latin typeface="Calibri"/>
              </a:rPr>
              <a:t>ROADMAP DE IMPLANTAÇÃO</a:t>
            </a:r>
          </a:p>
        </p:txBody>
      </p:sp>
      <p:pic>
        <p:nvPicPr>
          <p:cNvPr id="4" name="Picture 3" descr="04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" y="1097280"/>
            <a:ext cx="10058400" cy="48175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82296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2740"/>
                </a:solidFill>
                <a:latin typeface="Calibri"/>
              </a:rPr>
              <a:t>FRAMEWORK DE INDICADORES — MEDIDOS, NÃO PRESUMIDOS</a:t>
            </a:r>
          </a:p>
        </p:txBody>
      </p:sp>
      <p:pic>
        <p:nvPicPr>
          <p:cNvPr id="4" name="Picture 3" descr="05_indic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485" y="960120"/>
            <a:ext cx="767781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B6B7B"/>
                </a:solidFill>
                <a:latin typeface="Calibri"/>
              </a:rPr>
              <a:t>Sem números presumidos: a linha de base é medida na própria operação e as metas saem dela.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setup.com.br  ·  Infraestrutura de TI com IA  ·  Documento Executivo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5B6B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0"/>
            <a:ext cx="146304" cy="6858000"/>
          </a:xfrm>
          <a:prstGeom prst="rect">
            <a:avLst/>
          </a:prstGeom>
          <a:solidFill>
            <a:srgbClr val="0FB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6656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B5AE"/>
                </a:solidFill>
                <a:latin typeface="Calibri"/>
              </a:rPr>
              <a:t>EM UMA FRASE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Um cérebro de IA, muitos corpos — a mesma inteligência em cada tela, operando com segurança para que cada profissional da setup.com.br entregue mais e melhor, com bem-estar.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FA8C4"/>
                </a:solidFill>
                <a:latin typeface="Calibri"/>
              </a:rPr>
              <a:t>setup.com.br  ·  Infraestrutura de TI com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