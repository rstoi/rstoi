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46304" cy="6858000"/>
          </a:xfrm>
          <a:prstGeom prst="rect">
            <a:avLst/>
          </a:prstGeom>
          <a:solidFill>
            <a:srgbClr val="0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0"/>
            <a:ext cx="146304" cy="6858000"/>
          </a:xfrm>
          <a:prstGeom prst="rect">
            <a:avLst/>
          </a:prstGeom>
          <a:solidFill>
            <a:srgbClr val="1F9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0"/>
            <a:ext cx="146304" cy="6858000"/>
          </a:xfrm>
          <a:prstGeom prst="rect">
            <a:avLst/>
          </a:prstGeom>
          <a:solidFill>
            <a:srgbClr val="609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tup_logo_white@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554480"/>
            <a:ext cx="1822269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5840" y="246888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800" b="1" i="0">
                <a:solidFill>
                  <a:srgbClr val="FFFFFF"/>
                </a:solidFill>
                <a:latin typeface="Calibri"/>
              </a:rPr>
              <a:t>Infraestrutura de TI com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9319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609CC0"/>
                </a:solidFill>
                <a:latin typeface="Calibri"/>
              </a:rPr>
              <a:t>Produtividade aumentada por agentes, multimodelo e harness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45720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609CC0"/>
                </a:solidFill>
                <a:latin typeface="Calibri"/>
              </a:rPr>
              <a:t>Integração: PC · Notebook · Tablet · Smartphone · WhatsApp · Google Workspace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09CC0"/>
                </a:solidFill>
                <a:latin typeface="Calibri"/>
              </a:rPr>
              <a:t>Documento Executivo   ·   v1.0   ·   Junho / 2026   ·   Uso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3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0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97B4"/>
                </a:solidFill>
                <a:latin typeface="Calibri"/>
              </a:rPr>
              <a:t>SUMÁRIO EXECUTIVO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Uma IA, em cada tela — operando de verdade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B36"/>
                </a:solidFill>
                <a:latin typeface="Calibri"/>
              </a:rPr>
              <a:t>Cada profissional ganha um assistente único — no notebook, no celular, no tablet e pelo WhatsApp — que entende o contexto da empresa, atua sobre os sistemas internos (projetos, contratos, comercial) e executa tarefas de ponta a ponta, sempre sob controle humano nas decisões críticas.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926080"/>
            <a:ext cx="3611880" cy="109728"/>
          </a:xfrm>
          <a:prstGeom prst="rect">
            <a:avLst/>
          </a:prstGeom>
          <a:solidFill>
            <a:srgbClr val="0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E6E92"/>
                </a:solidFill>
                <a:latin typeface="Calibri"/>
              </a:rPr>
              <a:t>MULTIMODELO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0332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12B36"/>
                </a:solidFill>
                <a:latin typeface="Calibri"/>
              </a:rPr>
              <a:t>A IA certa para cada tarefa,
equilibrando custo e qualidade.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292608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552" y="2926080"/>
            <a:ext cx="3611880" cy="109728"/>
          </a:xfrm>
          <a:prstGeom prst="rect">
            <a:avLst/>
          </a:prstGeom>
          <a:solidFill>
            <a:srgbClr val="1F9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320040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97B4"/>
                </a:solidFill>
                <a:latin typeface="Calibri"/>
              </a:rPr>
              <a:t>HARNESS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370332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12B36"/>
                </a:solidFill>
                <a:latin typeface="Calibri"/>
              </a:rPr>
              <a:t>Planeja → age → observa → corrige
até concluir o trabalho.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84464" y="292608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84464" y="2926080"/>
            <a:ext cx="3611880" cy="109728"/>
          </a:xfrm>
          <a:prstGeom prst="rect">
            <a:avLst/>
          </a:prstGeom>
          <a:solidFill>
            <a:srgbClr val="4E8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58784" y="320040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4E86AE"/>
                </a:solidFill>
                <a:latin typeface="Calibri"/>
              </a:rPr>
              <a:t>CONECTORES 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370332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12B36"/>
                </a:solidFill>
                <a:latin typeface="Calibri"/>
              </a:rPr>
              <a:t>Liga a IA aos sistemas reais:
WhatsApp, Workspace, internos.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8000"/>
            </a:avLst>
          </a:prstGeom>
          <a:solidFill>
            <a:srgbClr val="E1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285232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03C54"/>
                </a:solidFill>
                <a:latin typeface="Calibri"/>
              </a:rPr>
              <a:t>Resultado esperado:  </a:t>
            </a:r>
            <a:r>
              <a:rPr sz="1400" b="0" i="0">
                <a:solidFill>
                  <a:srgbClr val="212B36"/>
                </a:solidFill>
                <a:latin typeface="Calibri"/>
              </a:rPr>
              <a:t>menos tempo em tarefas repetitivas e mais qualidade nos entregáveis — e, no mesmo movimento, equipes menos sobrecarregadas, com mais segurança psicológica e melhores condições de trabalho.</a:t>
            </a:r>
          </a:p>
        </p:txBody>
      </p:sp>
      <p:pic>
        <p:nvPicPr>
          <p:cNvPr id="21" name="Picture 20" descr="setup_logo@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19088"/>
            <a:ext cx="646611" cy="201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544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A72"/>
                </a:solidFill>
                <a:latin typeface="Calibri"/>
              </a:rPr>
              <a:t>Infraestrutura de TI com IA  ·  Documento Executivo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E6A7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03C54"/>
                </a:solidFill>
                <a:latin typeface="Calibri"/>
              </a:rPr>
              <a:t>ARQUITETURA — VISÃO EM CAMADAS</a:t>
            </a:r>
          </a:p>
        </p:txBody>
      </p:sp>
      <p:pic>
        <p:nvPicPr>
          <p:cNvPr id="4" name="Picture 3" descr="01_cama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209" y="1051560"/>
            <a:ext cx="7666362" cy="5212080"/>
          </a:xfrm>
          <a:prstGeom prst="rect">
            <a:avLst/>
          </a:prstGeom>
        </p:spPr>
      </p:pic>
      <p:pic>
        <p:nvPicPr>
          <p:cNvPr id="5" name="Picture 4" descr="setup_logo@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19088"/>
            <a:ext cx="646611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544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A72"/>
                </a:solidFill>
                <a:latin typeface="Calibri"/>
              </a:rPr>
              <a:t>Infraestrutura de TI com IA  ·  Documento Executivo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E6A7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3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0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97B4"/>
                </a:solidFill>
                <a:latin typeface="Calibri"/>
              </a:rPr>
              <a:t>EXPERIÊNCIA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Um assistente em cada tela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727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B36"/>
                </a:solidFill>
                <a:latin typeface="Calibri"/>
              </a:rPr>
              <a:t>O mesmo agente, com o mesmo contexto, em qualquer dispositivo. O profissional escolhe o canal mais conveniente.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2834640" cy="566928"/>
          </a:xfrm>
          <a:prstGeom prst="roundRect">
            <a:avLst>
              <a:gd name="adj" fmla="val 8000"/>
            </a:avLst>
          </a:prstGeom>
          <a:solidFill>
            <a:srgbClr val="0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2834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PC / Notebook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377440"/>
            <a:ext cx="8046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12B36"/>
                </a:solidFill>
                <a:latin typeface="Calibri"/>
              </a:rPr>
              <a:t>Produção: documentos, planilhas, código, análise e operação do computador.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90672"/>
            <a:ext cx="2834640" cy="566928"/>
          </a:xfrm>
          <a:prstGeom prst="roundRect">
            <a:avLst>
              <a:gd name="adj" fmla="val 8000"/>
            </a:avLst>
          </a:prstGeom>
          <a:solidFill>
            <a:srgbClr val="1F9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90672"/>
            <a:ext cx="2834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Tablet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090672"/>
            <a:ext cx="8046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12B36"/>
                </a:solidFill>
                <a:latin typeface="Calibri"/>
              </a:rPr>
              <a:t>Revisão, aprovação e leitura de resumos; ditado de tarefas em reunião.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03904"/>
            <a:ext cx="2834640" cy="566928"/>
          </a:xfrm>
          <a:prstGeom prst="roundRect">
            <a:avLst>
              <a:gd name="adj" fmla="val 8000"/>
            </a:avLst>
          </a:prstGeom>
          <a:solidFill>
            <a:srgbClr val="4E8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03904"/>
            <a:ext cx="2834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Smartphone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803904"/>
            <a:ext cx="8046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12B36"/>
                </a:solidFill>
                <a:latin typeface="Calibri"/>
              </a:rPr>
              <a:t>Captura rápida (foto de nota, áudio), consulta de agenda e aprovações.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2834640" cy="566928"/>
          </a:xfrm>
          <a:prstGeom prst="roundRect">
            <a:avLst>
              <a:gd name="adj" fmla="val 8000"/>
            </a:avLst>
          </a:prstGeom>
          <a:solidFill>
            <a:srgbClr val="003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517136"/>
            <a:ext cx="2834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WhatsApp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517136"/>
            <a:ext cx="8046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12B36"/>
                </a:solidFill>
                <a:latin typeface="Calibri"/>
              </a:rPr>
              <a:t>Canal mais natural no Brasil: conversa por texto/áudio; clientes atendidos por agentes.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230368"/>
            <a:ext cx="2834640" cy="566928"/>
          </a:xfrm>
          <a:prstGeom prst="roundRect">
            <a:avLst>
              <a:gd name="adj" fmla="val 8000"/>
            </a:avLst>
          </a:prstGeom>
          <a:solidFill>
            <a:srgbClr val="5E6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230368"/>
            <a:ext cx="2834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Chat web / 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5230368"/>
            <a:ext cx="8046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12B36"/>
                </a:solidFill>
                <a:latin typeface="Calibri"/>
              </a:rPr>
              <a:t>Trabalho técnico e suporte: copiloto interno das equipes.</a:t>
            </a:r>
          </a:p>
        </p:txBody>
      </p:sp>
      <p:pic>
        <p:nvPicPr>
          <p:cNvPr id="22" name="Picture 21" descr="setup_logo@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19088"/>
            <a:ext cx="646611" cy="20116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5544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A72"/>
                </a:solidFill>
                <a:latin typeface="Calibri"/>
              </a:rPr>
              <a:t>Infraestrutura de TI com IA  ·  Documento Executivo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E6A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03C54"/>
                </a:solidFill>
                <a:latin typeface="Calibri"/>
              </a:rPr>
              <a:t>MULTIMODELO — A IA CERTA PARA CADA TAREFA</a:t>
            </a:r>
          </a:p>
        </p:txBody>
      </p:sp>
      <p:pic>
        <p:nvPicPr>
          <p:cNvPr id="4" name="Picture 3" descr="03_mode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922" y="914400"/>
            <a:ext cx="7488936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53212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E6A72"/>
                </a:solidFill>
                <a:latin typeface="Calibri"/>
              </a:rPr>
              <a:t>Modelos especializados complementam o texto: transcrição de áudio (WhatsApp/reuniões), visão/OCR (notas e contratos) e busca semântica sobre a base de conhecimento.</a:t>
            </a:r>
          </a:p>
        </p:txBody>
      </p:sp>
      <p:pic>
        <p:nvPicPr>
          <p:cNvPr id="6" name="Picture 5" descr="setup_logo@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19088"/>
            <a:ext cx="646611" cy="201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544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A72"/>
                </a:solidFill>
                <a:latin typeface="Calibri"/>
              </a:rPr>
              <a:t>Infraestrutura de TI com IA  ·  Documento Executivo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E6A7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1F9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03C54"/>
                </a:solidFill>
                <a:latin typeface="Calibri"/>
              </a:rPr>
              <a:t>HARNESS LOOP — DE CHATBOT A AGENTE QUE ENTREGA</a:t>
            </a:r>
          </a:p>
        </p:txBody>
      </p:sp>
      <p:pic>
        <p:nvPicPr>
          <p:cNvPr id="4" name="Picture 3" descr="02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5852160" cy="38446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3258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03C54"/>
                </a:solidFill>
                <a:latin typeface="Calibri"/>
              </a:rPr>
              <a:t>Exemplo: fechar proposta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920240"/>
            <a:ext cx="484632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>
                <a:solidFill>
                  <a:srgbClr val="1F97B4"/>
                </a:solidFill>
                <a:latin typeface="Calibri"/>
              </a:rPr>
              <a:t>▸  </a:t>
            </a:r>
            <a:r>
              <a:rPr sz="1400" b="1">
                <a:solidFill>
                  <a:srgbClr val="003C54"/>
                </a:solidFill>
                <a:latin typeface="Calibri"/>
              </a:rPr>
              <a:t>Planejar — </a:t>
            </a:r>
            <a:r>
              <a:rPr sz="1400">
                <a:solidFill>
                  <a:srgbClr val="212B36"/>
                </a:solidFill>
                <a:latin typeface="Calibri"/>
              </a:rPr>
              <a:t>o vendedor pede pelo WhatsApp.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>
                <a:solidFill>
                  <a:srgbClr val="1F97B4"/>
                </a:solidFill>
                <a:latin typeface="Calibri"/>
              </a:rPr>
              <a:t>▸  </a:t>
            </a:r>
            <a:r>
              <a:rPr sz="1400" b="1">
                <a:solidFill>
                  <a:srgbClr val="003C54"/>
                </a:solidFill>
                <a:latin typeface="Calibri"/>
              </a:rPr>
              <a:t>Agir/Observar — </a:t>
            </a:r>
            <a:r>
              <a:rPr sz="1400">
                <a:solidFill>
                  <a:srgbClr val="212B36"/>
                </a:solidFill>
                <a:latin typeface="Calibri"/>
              </a:rPr>
              <a:t>busca histórico no Drive e Gmail, gera a proposta, agenda no Calendar.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00" b="1">
                <a:solidFill>
                  <a:srgbClr val="1F97B4"/>
                </a:solidFill>
                <a:latin typeface="Calibri"/>
              </a:rPr>
              <a:t>▸  </a:t>
            </a:r>
            <a:r>
              <a:rPr sz="1400" b="1">
                <a:solidFill>
                  <a:srgbClr val="003C54"/>
                </a:solidFill>
                <a:latin typeface="Calibri"/>
              </a:rPr>
              <a:t>Aprovar — </a:t>
            </a:r>
            <a:r>
              <a:rPr sz="1400">
                <a:solidFill>
                  <a:srgbClr val="212B36"/>
                </a:solidFill>
                <a:latin typeface="Calibri"/>
              </a:rPr>
              <a:t>envia o resumo ao vendedor; se houver ajuste, o loop reabre.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4572000"/>
            <a:ext cx="4846320" cy="1371600"/>
          </a:xfrm>
          <a:prstGeom prst="roundRect">
            <a:avLst>
              <a:gd name="adj" fmla="val 8000"/>
            </a:avLst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14032" y="4754880"/>
            <a:ext cx="43891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03C54"/>
                </a:solidFill>
                <a:latin typeface="Calibri"/>
              </a:rPr>
              <a:t>Controle humano:  </a:t>
            </a:r>
            <a:r>
              <a:rPr sz="1300" b="0" i="0">
                <a:solidFill>
                  <a:srgbClr val="212B36"/>
                </a:solidFill>
                <a:latin typeface="Calibri"/>
              </a:rPr>
              <a:t>ações de baixo risco são automáticas; envios e alterações irreversíveis exigem aprovação.</a:t>
            </a:r>
          </a:p>
        </p:txBody>
      </p:sp>
      <p:pic>
        <p:nvPicPr>
          <p:cNvPr id="9" name="Picture 8" descr="setup_logo@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19088"/>
            <a:ext cx="646611" cy="2011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544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A72"/>
                </a:solidFill>
                <a:latin typeface="Calibri"/>
              </a:rPr>
              <a:t>Infraestrutura de TI com IA  ·  Documento Executivo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E6A7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3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0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97B4"/>
                </a:solidFill>
                <a:latin typeface="Calibri"/>
              </a:rPr>
              <a:t>AGENTES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Catálogo de agentes especializados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12B36"/>
                </a:solidFill>
                <a:latin typeface="Calibri"/>
              </a:rPr>
              <a:t>Cada agente tem escopo e permissões próprios, usa o harness loop e o roteamento multimodelo — e pode delegar a sub-agentes.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91440" cy="960120"/>
          </a:xfrm>
          <a:prstGeom prst="rect">
            <a:avLst/>
          </a:prstGeom>
          <a:solidFill>
            <a:srgbClr val="0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59152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E6E92"/>
                </a:solidFill>
                <a:latin typeface="Calibri"/>
              </a:rPr>
              <a:t>Assistente Executivo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12B36"/>
                </a:solidFill>
                <a:latin typeface="Calibri"/>
              </a:rPr>
              <a:t>E-mail, agenda, resumos, reuniões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2240280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552" y="2240280"/>
            <a:ext cx="91440" cy="960120"/>
          </a:xfrm>
          <a:prstGeom prst="rect">
            <a:avLst/>
          </a:prstGeom>
          <a:solidFill>
            <a:srgbClr val="1F9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2359152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F97B4"/>
                </a:solidFill>
                <a:latin typeface="Calibri"/>
              </a:rPr>
              <a:t>Atendimento / SDR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74320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12B36"/>
                </a:solidFill>
                <a:latin typeface="Calibri"/>
              </a:rPr>
              <a:t>Clientes no WhatsApp, leads, demos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84464" y="2240280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84464" y="2240280"/>
            <a:ext cx="91440" cy="960120"/>
          </a:xfrm>
          <a:prstGeom prst="rect">
            <a:avLst/>
          </a:prstGeom>
          <a:solidFill>
            <a:srgbClr val="4E8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58784" y="2359152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4E86AE"/>
                </a:solidFill>
                <a:latin typeface="Calibri"/>
              </a:rPr>
              <a:t>PMO / Projetos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274320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12B36"/>
                </a:solidFill>
                <a:latin typeface="Calibri"/>
              </a:rPr>
              <a:t>Status, relatórios e riscos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56432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456432"/>
            <a:ext cx="91440" cy="960120"/>
          </a:xfrm>
          <a:prstGeom prst="rect">
            <a:avLst/>
          </a:prstGeom>
          <a:solidFill>
            <a:srgbClr val="003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575304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03C54"/>
                </a:solidFill>
                <a:latin typeface="Calibri"/>
              </a:rPr>
              <a:t>Contratos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959352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12B36"/>
                </a:solidFill>
                <a:latin typeface="Calibri"/>
              </a:rPr>
              <a:t>Minutas, prazos, OCR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6552" y="3456432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6552" y="3456432"/>
            <a:ext cx="91440" cy="960120"/>
          </a:xfrm>
          <a:prstGeom prst="rect">
            <a:avLst/>
          </a:prstGeom>
          <a:solidFill>
            <a:srgbClr val="5E6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90872" y="3575304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5E6A72"/>
                </a:solidFill>
                <a:latin typeface="Calibri"/>
              </a:rPr>
              <a:t>Suporte / Helpdesk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0872" y="3959352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12B36"/>
                </a:solidFill>
                <a:latin typeface="Calibri"/>
              </a:rPr>
              <a:t>Chamados, runbooks, máquinas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84464" y="3456432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84464" y="3456432"/>
            <a:ext cx="91440" cy="960120"/>
          </a:xfrm>
          <a:prstGeom prst="rect">
            <a:avLst/>
          </a:prstGeom>
          <a:solidFill>
            <a:srgbClr val="0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58784" y="3575304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E6E92"/>
                </a:solidFill>
                <a:latin typeface="Calibri"/>
              </a:rPr>
              <a:t>DevOps / Engenharia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58784" y="3959352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12B36"/>
                </a:solidFill>
                <a:latin typeface="Calibri"/>
              </a:rPr>
              <a:t>PRs, CI, evolui sist. internos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672584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672584"/>
            <a:ext cx="91440" cy="960120"/>
          </a:xfrm>
          <a:prstGeom prst="rect">
            <a:avLst/>
          </a:prstGeom>
          <a:solidFill>
            <a:srgbClr val="1F9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791456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F97B4"/>
                </a:solidFill>
                <a:latin typeface="Calibri"/>
              </a:rPr>
              <a:t>Financeiro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175504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12B36"/>
                </a:solidFill>
                <a:latin typeface="Calibri"/>
              </a:rPr>
              <a:t>Conciliação, despesas, relatórios</a:t>
            </a:r>
          </a:p>
        </p:txBody>
      </p:sp>
      <p:pic>
        <p:nvPicPr>
          <p:cNvPr id="35" name="Picture 34" descr="setup_logo@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19088"/>
            <a:ext cx="646611" cy="201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5544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A72"/>
                </a:solidFill>
                <a:latin typeface="Calibri"/>
              </a:rPr>
              <a:t>Infraestrutura de TI com IA  ·  Documento Executivo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E6A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3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4E8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97B4"/>
                </a:solidFill>
                <a:latin typeface="Calibri"/>
              </a:rPr>
              <a:t>SISTEMAS INTERNOS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Integrar e fortalecer o que já existe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727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B36"/>
                </a:solidFill>
                <a:latin typeface="Calibri"/>
              </a:rPr>
              <a:t>A setup.com.br já desenvolveu, em </a:t>
            </a:r>
            <a:r>
              <a:rPr sz="1500" b="1" i="0">
                <a:solidFill>
                  <a:srgbClr val="003C54"/>
                </a:solidFill>
                <a:latin typeface="Calibri"/>
              </a:rPr>
              <a:t>vibe coding</a:t>
            </a:r>
            <a:r>
              <a:rPr sz="1500" b="0" i="0">
                <a:solidFill>
                  <a:srgbClr val="212B36"/>
                </a:solidFill>
                <a:latin typeface="Calibri"/>
              </a:rPr>
              <a:t>, sistemas de projetos, contratos e comercial. A infraestrutura </a:t>
            </a:r>
            <a:r>
              <a:rPr sz="1500" b="1" i="0">
                <a:solidFill>
                  <a:srgbClr val="003C54"/>
                </a:solidFill>
                <a:latin typeface="Calibri"/>
              </a:rPr>
              <a:t>não os substitui</a:t>
            </a:r>
            <a:r>
              <a:rPr sz="1500" b="0" i="0">
                <a:solidFill>
                  <a:srgbClr val="212B36"/>
                </a:solidFill>
                <a:latin typeface="Calibri"/>
              </a:rPr>
              <a:t> — encapsula como conectores e os coloca no alcance dos agentes.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40680" cy="3108960"/>
          </a:xfrm>
          <a:prstGeom prst="roundRect">
            <a:avLst>
              <a:gd name="adj" fmla="val 8000"/>
            </a:avLst>
          </a:prstGeom>
          <a:solidFill>
            <a:srgbClr val="E4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E6E92"/>
                </a:solidFill>
                <a:latin typeface="Calibri"/>
              </a:rPr>
              <a:t>INTEGRAR  →  viram conectores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484632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0E6E92"/>
                </a:solidFill>
                <a:latin typeface="Calibri"/>
              </a:rPr>
              <a:t>▸  </a:t>
            </a:r>
            <a:r>
              <a:rPr sz="1350" b="1">
                <a:solidFill>
                  <a:srgbClr val="003C54"/>
                </a:solidFill>
                <a:latin typeface="Calibri"/>
              </a:rPr>
              <a:t>Projetos — </a:t>
            </a:r>
            <a:r>
              <a:rPr sz="1350">
                <a:solidFill>
                  <a:srgbClr val="212B36"/>
                </a:solidFill>
                <a:latin typeface="Calibri"/>
              </a:rPr>
              <a:t>PMO atualiza status, relatórios e riscos.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0E6E92"/>
                </a:solidFill>
                <a:latin typeface="Calibri"/>
              </a:rPr>
              <a:t>▸  </a:t>
            </a:r>
            <a:r>
              <a:rPr sz="1350" b="1">
                <a:solidFill>
                  <a:srgbClr val="003C54"/>
                </a:solidFill>
                <a:latin typeface="Calibri"/>
              </a:rPr>
              <a:t>Contratos — </a:t>
            </a:r>
            <a:r>
              <a:rPr sz="1350">
                <a:solidFill>
                  <a:srgbClr val="212B36"/>
                </a:solidFill>
                <a:latin typeface="Calibri"/>
              </a:rPr>
              <a:t>gera minutas, acompanha prazos, renova.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0E6E92"/>
                </a:solidFill>
                <a:latin typeface="Calibri"/>
              </a:rPr>
              <a:t>▸  </a:t>
            </a:r>
            <a:r>
              <a:rPr sz="1350" b="1">
                <a:solidFill>
                  <a:srgbClr val="003C54"/>
                </a:solidFill>
                <a:latin typeface="Calibri"/>
              </a:rPr>
              <a:t>Comercial — </a:t>
            </a:r>
            <a:r>
              <a:rPr sz="1350">
                <a:solidFill>
                  <a:srgbClr val="212B36"/>
                </a:solidFill>
                <a:latin typeface="Calibri"/>
              </a:rPr>
              <a:t>qualifica leads e move o funil.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2651760"/>
            <a:ext cx="5440680" cy="3108960"/>
          </a:xfrm>
          <a:prstGeom prst="roundRect">
            <a:avLst>
              <a:gd name="adj" fmla="val 8000"/>
            </a:avLst>
          </a:prstGeom>
          <a:solidFill>
            <a:srgbClr val="E1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7889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F97B4"/>
                </a:solidFill>
                <a:latin typeface="Calibri"/>
              </a:rPr>
              <a:t>FORTALECER  →  saúde dos sistemas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3291840"/>
            <a:ext cx="49377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12B36"/>
                </a:solidFill>
                <a:latin typeface="Calibri"/>
              </a:rPr>
              <a:t>Sistemas em vibe coding entregam rápido, mas acumulam dívida técnica. O agente de DevOps adiciona testes, revisa alterações e documenta — reduzindo retrabalho e aumentando a confiabilidade.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03C54"/>
                </a:solidFill>
                <a:latin typeface="Calibri"/>
              </a:rPr>
              <a:t>O investimento já feito é preservado e ampliado, não descartado.</a:t>
            </a:r>
          </a:p>
        </p:txBody>
      </p:sp>
      <p:pic>
        <p:nvPicPr>
          <p:cNvPr id="13" name="Picture 12" descr="setup_logo@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19088"/>
            <a:ext cx="646611" cy="2011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544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A72"/>
                </a:solidFill>
                <a:latin typeface="Calibri"/>
              </a:rPr>
              <a:t>Infraestrutura de TI com IA  ·  Documento Executivo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E6A7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03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03C54"/>
                </a:solidFill>
                <a:latin typeface="Calibri"/>
              </a:rPr>
              <a:t>PESSOAS NO CENTRO — CLIMA, SEGURANÇA PSICOLÓGICA E CONDIÇÕES DE TRABALHO</a:t>
            </a:r>
          </a:p>
        </p:txBody>
      </p:sp>
      <p:pic>
        <p:nvPicPr>
          <p:cNvPr id="4" name="Picture 3" descr="06_pesso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850" y="1005840"/>
            <a:ext cx="7659079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4864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03C54"/>
                </a:solidFill>
                <a:latin typeface="Calibri"/>
              </a:rPr>
              <a:t>A IA aumenta as pessoas — não as vigia. </a:t>
            </a:r>
            <a:r>
              <a:rPr sz="1400" b="0" i="0">
                <a:solidFill>
                  <a:srgbClr val="212B36"/>
                </a:solidFill>
                <a:latin typeface="Calibri"/>
              </a:rPr>
              <a:t>Com rascunho revisável e aprovação humana, o custo de errar cai; equipes menos sobrecarregadas colaboram melhor e retêm talentos.</a:t>
            </a:r>
          </a:p>
        </p:txBody>
      </p:sp>
      <p:pic>
        <p:nvPicPr>
          <p:cNvPr id="6" name="Picture 5" descr="setup_logo@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19088"/>
            <a:ext cx="646611" cy="201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544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A72"/>
                </a:solidFill>
                <a:latin typeface="Calibri"/>
              </a:rPr>
              <a:t>Infraestrutura de TI com IA  ·  Documento Executivo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E6A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3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003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97B4"/>
                </a:solidFill>
                <a:latin typeface="Calibri"/>
              </a:rPr>
              <a:t>GOVERNANÇA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Segurança e governança — não-negociável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50" b="1">
                <a:solidFill>
                  <a:srgbClr val="003C54"/>
                </a:solidFill>
                <a:latin typeface="Calibri"/>
              </a:rPr>
              <a:t>▸  </a:t>
            </a:r>
            <a:r>
              <a:rPr sz="1550" b="1">
                <a:solidFill>
                  <a:srgbClr val="003C54"/>
                </a:solidFill>
                <a:latin typeface="Calibri"/>
              </a:rPr>
              <a:t>Identidade única (SSO) — </a:t>
            </a:r>
            <a:r>
              <a:rPr sz="1550">
                <a:solidFill>
                  <a:srgbClr val="212B36"/>
                </a:solidFill>
                <a:latin typeface="Calibri"/>
              </a:rPr>
              <a:t>via Google Workspace; o agente age como o usuário, herdando só as permissões dele.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50" b="1">
                <a:solidFill>
                  <a:srgbClr val="003C54"/>
                </a:solidFill>
                <a:latin typeface="Calibri"/>
              </a:rPr>
              <a:t>▸  </a:t>
            </a:r>
            <a:r>
              <a:rPr sz="1550" b="1">
                <a:solidFill>
                  <a:srgbClr val="003C54"/>
                </a:solidFill>
                <a:latin typeface="Calibri"/>
              </a:rPr>
              <a:t>Permissões mínimas — </a:t>
            </a:r>
            <a:r>
              <a:rPr sz="1550">
                <a:solidFill>
                  <a:srgbClr val="212B36"/>
                </a:solidFill>
                <a:latin typeface="Calibri"/>
              </a:rPr>
              <a:t>cada conector recebe apenas os escopos necessários.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50" b="1">
                <a:solidFill>
                  <a:srgbClr val="003C54"/>
                </a:solidFill>
                <a:latin typeface="Calibri"/>
              </a:rPr>
              <a:t>▸  </a:t>
            </a:r>
            <a:r>
              <a:rPr sz="1550" b="1">
                <a:solidFill>
                  <a:srgbClr val="003C54"/>
                </a:solidFill>
                <a:latin typeface="Calibri"/>
              </a:rPr>
              <a:t>Aprovação de ações externas — </a:t>
            </a:r>
            <a:r>
              <a:rPr sz="1550">
                <a:solidFill>
                  <a:srgbClr val="212B36"/>
                </a:solidFill>
                <a:latin typeface="Calibri"/>
              </a:rPr>
              <a:t>envios, exclusões e alterações irreversíveis passam por confirmação humana.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50" b="1">
                <a:solidFill>
                  <a:srgbClr val="003C54"/>
                </a:solidFill>
                <a:latin typeface="Calibri"/>
              </a:rPr>
              <a:t>▸  </a:t>
            </a:r>
            <a:r>
              <a:rPr sz="1550" b="1">
                <a:solidFill>
                  <a:srgbClr val="003C54"/>
                </a:solidFill>
                <a:latin typeface="Calibri"/>
              </a:rPr>
              <a:t>Segredos protegidos — </a:t>
            </a:r>
            <a:r>
              <a:rPr sz="1550">
                <a:solidFill>
                  <a:srgbClr val="212B36"/>
                </a:solidFill>
                <a:latin typeface="Calibri"/>
              </a:rPr>
              <a:t>chaves e tokens em cofre (Vault / Secret Manager), nunca no código.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50" b="1">
                <a:solidFill>
                  <a:srgbClr val="003C54"/>
                </a:solidFill>
                <a:latin typeface="Calibri"/>
              </a:rPr>
              <a:t>▸  </a:t>
            </a:r>
            <a:r>
              <a:rPr sz="1550" b="1">
                <a:solidFill>
                  <a:srgbClr val="003C54"/>
                </a:solidFill>
                <a:latin typeface="Calibri"/>
              </a:rPr>
              <a:t>Auditoria completa — </a:t>
            </a:r>
            <a:r>
              <a:rPr sz="1550">
                <a:solidFill>
                  <a:srgbClr val="212B36"/>
                </a:solidFill>
                <a:latin typeface="Calibri"/>
              </a:rPr>
              <a:t>cada passo do loop é registrado para conformidade.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50" b="1">
                <a:solidFill>
                  <a:srgbClr val="003C54"/>
                </a:solidFill>
                <a:latin typeface="Calibri"/>
              </a:rPr>
              <a:t>▸  </a:t>
            </a:r>
            <a:r>
              <a:rPr sz="1550" b="1">
                <a:solidFill>
                  <a:srgbClr val="003C54"/>
                </a:solidFill>
                <a:latin typeface="Calibri"/>
              </a:rPr>
              <a:t>Isolamento de dados — </a:t>
            </a:r>
            <a:r>
              <a:rPr sz="1550">
                <a:solidFill>
                  <a:srgbClr val="212B36"/>
                </a:solidFill>
                <a:latin typeface="Calibri"/>
              </a:rPr>
              <a:t>dados da empresa não treinam modelos públicos; ambientes com não retenção.</a:t>
            </a:r>
          </a:p>
        </p:txBody>
      </p:sp>
      <p:pic>
        <p:nvPicPr>
          <p:cNvPr id="7" name="Picture 6" descr="setup_logo@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19088"/>
            <a:ext cx="646611" cy="2011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544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A72"/>
                </a:solidFill>
                <a:latin typeface="Calibri"/>
              </a:rPr>
              <a:t>Infraestrutura de TI com IA  ·  Documento Executivo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E6A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4E86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03C54"/>
                </a:solidFill>
                <a:latin typeface="Calibri"/>
              </a:rPr>
              <a:t>ROADMAP DE IMPLANTAÇÃO</a:t>
            </a:r>
          </a:p>
        </p:txBody>
      </p:sp>
      <p:pic>
        <p:nvPicPr>
          <p:cNvPr id="4" name="Picture 3" descr="04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" y="1097280"/>
            <a:ext cx="10058400" cy="4817550"/>
          </a:xfrm>
          <a:prstGeom prst="rect">
            <a:avLst/>
          </a:prstGeom>
        </p:spPr>
      </p:pic>
      <p:pic>
        <p:nvPicPr>
          <p:cNvPr id="5" name="Picture 4" descr="setup_logo@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19088"/>
            <a:ext cx="646611" cy="201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544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A72"/>
                </a:solidFill>
                <a:latin typeface="Calibri"/>
              </a:rPr>
              <a:t>Infraestrutura de TI com IA  ·  Documento Executivo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E6A7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03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03C54"/>
                </a:solidFill>
                <a:latin typeface="Calibri"/>
              </a:rPr>
              <a:t>FRAMEWORK DE INDICADORES — MEDIDOS, NÃO PRESUMIDOS</a:t>
            </a:r>
          </a:p>
        </p:txBody>
      </p:sp>
      <p:pic>
        <p:nvPicPr>
          <p:cNvPr id="4" name="Picture 3" descr="05_indicad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485" y="960120"/>
            <a:ext cx="767781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7150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E6A72"/>
                </a:solidFill>
                <a:latin typeface="Calibri"/>
              </a:rPr>
              <a:t>Sem números presumidos: a linha de base é medida na própria operação e as metas saem dela.</a:t>
            </a:r>
          </a:p>
        </p:txBody>
      </p:sp>
      <p:pic>
        <p:nvPicPr>
          <p:cNvPr id="6" name="Picture 5" descr="setup_logo@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19088"/>
            <a:ext cx="646611" cy="201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5448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A72"/>
                </a:solidFill>
                <a:latin typeface="Calibri"/>
              </a:rPr>
              <a:t>Infraestrutura de TI com IA  ·  Documento Executivo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E6A7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46304" cy="6858000"/>
          </a:xfrm>
          <a:prstGeom prst="rect">
            <a:avLst/>
          </a:prstGeom>
          <a:solidFill>
            <a:srgbClr val="0E6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0"/>
            <a:ext cx="146304" cy="6858000"/>
          </a:xfrm>
          <a:prstGeom prst="rect">
            <a:avLst/>
          </a:prstGeom>
          <a:solidFill>
            <a:srgbClr val="1F9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0"/>
            <a:ext cx="146304" cy="6858000"/>
          </a:xfrm>
          <a:prstGeom prst="rect">
            <a:avLst/>
          </a:prstGeom>
          <a:solidFill>
            <a:srgbClr val="609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97B4"/>
                </a:solidFill>
                <a:latin typeface="Calibri"/>
              </a:rPr>
              <a:t>EM UMA FRASE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Um cérebro de IA, muitos corpos — a mesma inteligência em cada tela, operando com segurança para que cada profissional da setup.com.br entregue mais e melhor, com bem-estar.</a:t>
            </a:r>
          </a:p>
        </p:txBody>
      </p:sp>
      <p:pic>
        <p:nvPicPr>
          <p:cNvPr id="8" name="Picture 7" descr="setup_logo_white@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5760720"/>
            <a:ext cx="1469571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